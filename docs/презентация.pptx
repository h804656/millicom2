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</p:sldMasterIdLst>
  <p:sldIdLst>
    <p:sldId id="328" r:id="rId11"/>
    <p:sldId id="318" r:id="rId12"/>
    <p:sldId id="322" r:id="rId13"/>
    <p:sldId id="321" r:id="rId14"/>
    <p:sldId id="323" r:id="rId15"/>
    <p:sldId id="329" r:id="rId16"/>
    <p:sldId id="330" r:id="rId17"/>
    <p:sldId id="331" r:id="rId18"/>
    <p:sldId id="320" r:id="rId19"/>
    <p:sldId id="333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2CAB-9C7F-4DA0-3515-B30D5ACB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FE94A-A754-5553-C3A4-3E0B5682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F27A-0624-EFE9-F784-83DB0B36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7101-8BBE-8D01-44E7-06D7651A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6073-38F5-2F0A-7F0F-D3448AA4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10161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9480-7431-B4A8-8A08-989CAA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E5B3-5DA4-E512-B8D4-7A48F538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606C-C354-6C48-A011-3D3D70A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C64-F645-7812-4A0E-2D8175E2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0F38-D478-CA2F-03C2-D780FAA8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6918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B12B-B67A-240D-F163-7D9E91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C542-D12E-E7F6-7E13-6E736E14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DC01-00FD-A3AB-B14F-8014B9E0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916E-1F97-0596-BC79-B4FB9147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F014-17A1-67F2-652C-390C82C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028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37E8-74D2-A85A-7D66-C9279288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2A91-5550-EDC7-7993-3E5A548F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30318-E40A-0B10-4048-EB7EA4E6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092D-385C-F269-E22D-32F6B5B0B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2936-BEE8-76D8-363C-AD84171A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5215-A5EB-E8C6-5A0C-9691FCA6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1828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C496-6C8E-06BD-1641-69E20EB53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76E3-07FA-DD3F-62CB-1F3AAE0B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31B6A-82AB-9FA2-7588-F8E27E897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51A1A-A5D9-A096-6926-63F323DAC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BBC67-C51D-6D23-E546-6D6BC28E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B015-151F-E9BF-8225-781E260B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6B3FC-AB7E-44FF-AB9C-A97D46AB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EF58-A701-0420-057F-3B83687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383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DD11-9844-B553-8969-650CD6F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7131F-94DC-9E6F-E50D-B8A84F43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5A336-1F7F-293A-ACAB-914B8B6D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2B366-FB43-E242-8085-E1917BB4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2795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397A-8A8F-AC54-426D-B70C0DF9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239E-B985-9C6C-8C41-91A652C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59EEF-C319-086D-D70B-13E10DE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96621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E570-EE08-9465-DB23-B491FC76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95C-BAEE-1895-D969-919E1606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F6590-7533-1AC8-2F94-A8E3B71C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8371-C718-ECE1-A601-E6281EE8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4742F-CA0E-5983-DE8D-B5B69A90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6B02-F2F1-A345-EF6C-B617282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26283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4D6-0AF8-381F-0FBC-37C3A10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F4A52-A67B-7864-3D25-1347A4E95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6EF2-6079-77C3-A1D3-34A57824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585A5-A7E5-2818-61D3-DF35CBD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D5F9-810F-7E2A-E100-BDA68D783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EE54E-ABE6-97E8-487E-DC52E32A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83200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4DB-BD98-1DAE-5956-ABF2EEE8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79AA-5A1A-B2B9-9F0D-97B13DB8B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7344-17BE-B72D-D214-33B8717B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EE35-3399-1DC9-1AEA-8CF61C31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F7E-B438-5194-AAD2-893CA2B7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75807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29C8-6467-D98B-1E09-1F15E5FF7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1A24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B3FE-2BAF-EE7D-8B0B-6F740B0B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C623-E6E4-9B89-08A7-7B2E760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48056-31D8-F4CD-6708-E8197CE9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3FAE-0123-17D5-EF30-9BA1E29C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4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BE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BE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BE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BE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BE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4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6303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5F43C-4069-B801-18D7-19C07D59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B236-1D07-1B2C-EACF-6E20A89A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456C-8A80-138E-5F2C-B4257D0C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DDFAD-FB42-4472-9102-3DBCC57C25F6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1E35-165F-438D-CE35-FFA7951F4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C8E0-AD9F-C813-A695-3902188AE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AF028-9E5A-4F94-8B7A-26283FCE29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4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6303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5030-4EAC-DA02-F027-C26EE52BF9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sz="3600" b="1" dirty="0"/>
              <a:t>Среда програмимрование dataflow языка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D370D-C6A9-A31F-693D-08F49FB82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u-RU" sz="2000" b="1" dirty="0">
                <a:solidFill>
                  <a:schemeClr val="accent2"/>
                </a:solidFill>
              </a:rPr>
              <a:t>Отчёт о проектной работе — проект №1983</a:t>
            </a:r>
          </a:p>
          <a:p>
            <a:pPr algn="ctr"/>
            <a:r>
              <a:rPr lang="ru-RU" sz="1500" dirty="0">
                <a:solidFill>
                  <a:srgbClr val="44505E"/>
                </a:solidFill>
              </a:rPr>
              <a:t>Исполнители: Бабенко Д.Г., Яснов Т.А., Серёгин Е.А.   </a:t>
            </a:r>
          </a:p>
          <a:p>
            <a:pPr algn="ctr"/>
            <a:r>
              <a:rPr lang="ru-RU" sz="1500" dirty="0">
                <a:solidFill>
                  <a:srgbClr val="44505E"/>
                </a:solidFill>
              </a:rPr>
              <a:t>Руководитель: Салибекян С.М.</a:t>
            </a:r>
          </a:p>
          <a:p>
            <a:pPr algn="ctr"/>
            <a:r>
              <a:rPr lang="ru-RU" sz="1500" dirty="0">
                <a:solidFill>
                  <a:srgbClr val="44505E"/>
                </a:solidFill>
              </a:rPr>
              <a:t>МИЭМ НИУ ВШЭ  •  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223994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785D-4138-752C-39CE-060BCD6B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1A2433"/>
                </a:solidFill>
              </a:rPr>
              <a:t>Введение и актуальность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EC0A-34C6-FFB8-5498-E346E8312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ru-RU" sz="1800" b="1" dirty="0">
                <a:solidFill>
                  <a:schemeClr val="accent1"/>
                </a:solidFill>
              </a:rPr>
              <a:t>Объект разработки: </a:t>
            </a:r>
            <a:r>
              <a:rPr lang="ru-RU" sz="1800" dirty="0">
                <a:solidFill>
                  <a:srgbClr val="26303C"/>
                </a:solidFill>
              </a:rPr>
              <a:t>объектно-атрибутный (ОА) язык программирования класса dataflow и инструментальные средства для него (язык разрабатывается в МИЭМ с 2008 г.).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ru-RU" sz="1800" b="0" dirty="0">
                <a:solidFill>
                  <a:srgbClr val="26303C"/>
                </a:solidFill>
              </a:rPr>
              <a:t>Dataflow-парадигма обеспечивает максимальный параллелизм за счёт самораспараллеливания — избавляет программиста от ручного распараллеливания.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ru-RU" sz="1800" b="0" dirty="0">
                <a:solidFill>
                  <a:srgbClr val="26303C"/>
                </a:solidFill>
              </a:rPr>
              <a:t>Актуальность: ИИ, моделирование физических процессов, большие данные — все требуют параллельных вычислений в приемлемые сроки.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ru-RU" sz="1800" b="0" dirty="0">
                <a:solidFill>
                  <a:srgbClr val="26303C"/>
                </a:solidFill>
              </a:rPr>
              <a:t>На прошлых этапах: создана среда программирования на базе VS Code.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ru-RU" sz="1800" b="1" dirty="0">
                <a:solidFill>
                  <a:schemeClr val="accent4"/>
                </a:solidFill>
              </a:rPr>
              <a:t>Задачи этапа 2026: </a:t>
            </a:r>
            <a:r>
              <a:rPr lang="ru-RU" sz="1800" dirty="0">
                <a:solidFill>
                  <a:srgbClr val="26303C"/>
                </a:solidFill>
              </a:rPr>
              <a:t>продолжение развития среды</a:t>
            </a:r>
            <a:r>
              <a:rPr lang="en-US" sz="1800" dirty="0">
                <a:solidFill>
                  <a:srgbClr val="26303C"/>
                </a:solidFill>
              </a:rPr>
              <a:t>, </a:t>
            </a:r>
            <a:r>
              <a:rPr lang="ru-RU" sz="1800" dirty="0">
                <a:solidFill>
                  <a:srgbClr val="26303C"/>
                </a:solidFill>
              </a:rPr>
              <a:t>перенос компилятора на сам ОА-язык.</a:t>
            </a:r>
          </a:p>
        </p:txBody>
      </p:sp>
    </p:spTree>
    <p:extLst>
      <p:ext uri="{BB962C8B-B14F-4D97-AF65-F5344CB8AC3E}">
        <p14:creationId xmlns:p14="http://schemas.microsoft.com/office/powerpoint/2010/main" val="4041810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EA22-86A1-27BC-0DC8-C364908B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1A2433"/>
                </a:solidFill>
              </a:rPr>
              <a:t>Dataflow-парадигма вычислений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7E38-72A5-F739-35D8-A5AC9057C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5715000" cy="435133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ru-RU" sz="1700" dirty="0">
                <a:solidFill>
                  <a:srgbClr val="26303C"/>
                </a:solidFill>
              </a:rPr>
              <a:t>Альтернатива control-flow: </a:t>
            </a:r>
            <a:r>
              <a:rPr lang="en-US" sz="1700" dirty="0">
                <a:solidFill>
                  <a:srgbClr val="26303C"/>
                </a:solidFill>
              </a:rPr>
              <a:t>dataflow</a:t>
            </a:r>
            <a:r>
              <a:rPr lang="ru-RU" sz="1700" dirty="0">
                <a:solidFill>
                  <a:srgbClr val="26303C"/>
                </a:solidFill>
              </a:rPr>
              <a:t> — это множество автономных устройств, обменивающихся </a:t>
            </a:r>
            <a:r>
              <a:rPr lang="ru-RU" sz="1700" b="1" dirty="0">
                <a:solidFill>
                  <a:srgbClr val="26303C"/>
                </a:solidFill>
              </a:rPr>
              <a:t>отдельными операндами</a:t>
            </a:r>
            <a:r>
              <a:rPr lang="ru-RU" sz="1700" dirty="0">
                <a:solidFill>
                  <a:srgbClr val="26303C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ru-RU" sz="1700" dirty="0">
                <a:solidFill>
                  <a:srgbClr val="26303C"/>
                </a:solidFill>
              </a:rPr>
              <a:t>Алгоритм описывается потоковым графом: вершины — операции, дуги — передача данных.</a:t>
            </a:r>
          </a:p>
          <a:p>
            <a:pPr>
              <a:spcBef>
                <a:spcPts val="800"/>
              </a:spcBef>
            </a:pPr>
            <a:r>
              <a:rPr lang="ru-RU" sz="1700" b="1" dirty="0">
                <a:solidFill>
                  <a:schemeClr val="accent1"/>
                </a:solidFill>
              </a:rPr>
              <a:t>Преимущества: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ru-RU" sz="1700" dirty="0">
                <a:solidFill>
                  <a:srgbClr val="26303C"/>
                </a:solidFill>
              </a:rPr>
              <a:t>самораспараллеливание вычислений;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ru-RU" sz="1700" dirty="0">
                <a:solidFill>
                  <a:srgbClr val="26303C"/>
                </a:solidFill>
              </a:rPr>
              <a:t>эффективность на распределённых системах;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ru-RU" sz="1700" dirty="0">
                <a:solidFill>
                  <a:srgbClr val="26303C"/>
                </a:solidFill>
              </a:rPr>
              <a:t>программная, аппаратная или гибридная реализация.</a:t>
            </a:r>
          </a:p>
        </p:txBody>
      </p:sp>
      <p:cxnSp>
        <p:nvCxnSpPr>
          <p:cNvPr id="50" name="arr51"/>
          <p:cNvCxnSpPr/>
          <p:nvPr/>
        </p:nvCxnSpPr>
        <p:spPr>
          <a:xfrm>
            <a:off x="9398000" y="2476500"/>
            <a:ext cx="254000" cy="101600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lg" len="lg"/>
          </a:ln>
        </p:spPr>
      </p:cxnSp>
      <p:cxnSp>
        <p:nvCxnSpPr>
          <p:cNvPr id="51" name="arr52"/>
          <p:cNvCxnSpPr/>
          <p:nvPr/>
        </p:nvCxnSpPr>
        <p:spPr>
          <a:xfrm flipH="1">
            <a:off x="9398000" y="3810000"/>
            <a:ext cx="254000" cy="69850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lg" len="lg"/>
          </a:ln>
        </p:spPr>
      </p:cxnSp>
      <p:cxnSp>
        <p:nvCxnSpPr>
          <p:cNvPr id="52" name="arr53"/>
          <p:cNvCxnSpPr/>
          <p:nvPr/>
        </p:nvCxnSpPr>
        <p:spPr>
          <a:xfrm>
            <a:off x="9398000" y="4508500"/>
            <a:ext cx="254000" cy="1016000"/>
          </a:xfrm>
          <a:prstGeom prst="straightConnector1">
            <a:avLst/>
          </a:prstGeom>
          <a:ln w="28575">
            <a:solidFill>
              <a:srgbClr val="2E75B6"/>
            </a:solidFill>
            <a:tailEnd type="triangle" w="lg" len="lg"/>
          </a:ln>
        </p:spPr>
      </p:cxnSp>
      <p:sp>
        <p:nvSpPr>
          <p:cNvPr id="53" name="node54"/>
          <p:cNvSpPr/>
          <p:nvPr/>
        </p:nvSpPr>
        <p:spPr>
          <a:xfrm>
            <a:off x="7874000" y="2159000"/>
            <a:ext cx="1524000" cy="635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ФУ A</a:t>
            </a:r>
          </a:p>
        </p:txBody>
      </p:sp>
      <p:sp>
        <p:nvSpPr>
          <p:cNvPr id="54" name="node55"/>
          <p:cNvSpPr/>
          <p:nvPr/>
        </p:nvSpPr>
        <p:spPr>
          <a:xfrm>
            <a:off x="9652000" y="3175000"/>
            <a:ext cx="1524000" cy="6350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ФУ B</a:t>
            </a:r>
          </a:p>
        </p:txBody>
      </p:sp>
      <p:sp>
        <p:nvSpPr>
          <p:cNvPr id="55" name="node56"/>
          <p:cNvSpPr/>
          <p:nvPr/>
        </p:nvSpPr>
        <p:spPr>
          <a:xfrm>
            <a:off x="7874000" y="4191000"/>
            <a:ext cx="1524000" cy="635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ФУ C</a:t>
            </a:r>
          </a:p>
        </p:txBody>
      </p:sp>
      <p:sp>
        <p:nvSpPr>
          <p:cNvPr id="56" name="node57"/>
          <p:cNvSpPr/>
          <p:nvPr/>
        </p:nvSpPr>
        <p:spPr>
          <a:xfrm>
            <a:off x="9652000" y="5207000"/>
            <a:ext cx="1524000" cy="6350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ФУ D</a:t>
            </a:r>
          </a:p>
        </p:txBody>
      </p:sp>
      <p:sp>
        <p:nvSpPr>
          <p:cNvPr id="57" name="cap"/>
          <p:cNvSpPr/>
          <p:nvPr/>
        </p:nvSpPr>
        <p:spPr>
          <a:xfrm>
            <a:off x="7620000" y="6070600"/>
            <a:ext cx="3810000" cy="381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ru-RU" sz="1400" i="1" dirty="0">
                <a:solidFill>
                  <a:srgbClr val="5A6577"/>
                </a:solidFill>
              </a:rPr>
              <a:t>Потоковый граф: данные текут между ФУ</a:t>
            </a:r>
          </a:p>
        </p:txBody>
      </p:sp>
    </p:spTree>
    <p:extLst>
      <p:ext uri="{BB962C8B-B14F-4D97-AF65-F5344CB8AC3E}">
        <p14:creationId xmlns:p14="http://schemas.microsoft.com/office/powerpoint/2010/main" val="369261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52F6-2C8A-7714-0985-DD032E12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000000"/>
                </a:solidFill>
              </a:rPr>
              <a:t>Объектно-атрибутный язык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43036-0DBF-6BD4-290A-25175CF86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000"/>
            <a:ext cx="6096000" cy="2286000"/>
          </a:xfrm>
        </p:spPr>
        <p:txBody>
          <a:bodyPr/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000000"/>
                </a:solidFill>
              </a:rPr>
              <a:t>Не императивный язык, а </a:t>
            </a:r>
            <a:r>
              <a:rPr lang="ru-RU" sz="1700" b="1" dirty="0">
                <a:solidFill>
                  <a:srgbClr val="000000"/>
                </a:solidFill>
              </a:rPr>
              <a:t>язык управления потоком данных</a:t>
            </a:r>
            <a:r>
              <a:rPr lang="ru-RU" sz="1700" dirty="0">
                <a:solidFill>
                  <a:srgbClr val="000000"/>
                </a:solidFill>
              </a:rPr>
              <a:t>. Программа — это граф из ФУ-узлов.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ru-RU" sz="1700" b="1" dirty="0">
                <a:solidFill>
                  <a:srgbClr val="000000"/>
                </a:solidFill>
              </a:rPr>
              <a:t>ФУ</a:t>
            </a:r>
            <a:r>
              <a:rPr lang="ru-RU" sz="1700" dirty="0">
                <a:solidFill>
                  <a:srgbClr val="000000"/>
                </a:solidFill>
              </a:rPr>
              <a:t> — объект-автомат (аналог объекта/актора)  •  </a:t>
            </a:r>
            <a:r>
              <a:rPr lang="ru-RU" sz="1700" b="1" dirty="0">
                <a:solidFill>
                  <a:srgbClr val="000000"/>
                </a:solidFill>
              </a:rPr>
              <a:t>МК</a:t>
            </a:r>
            <a:r>
              <a:rPr lang="ru-RU" sz="1700" dirty="0">
                <a:solidFill>
                  <a:srgbClr val="000000"/>
                </a:solidFill>
              </a:rPr>
              <a:t> — микрокоманда (аналог метода)  •  </a:t>
            </a:r>
            <a:r>
              <a:rPr lang="ru-RU" sz="1700" b="1" dirty="0">
                <a:solidFill>
                  <a:srgbClr val="000000"/>
                </a:solidFill>
              </a:rPr>
              <a:t>Bus</a:t>
            </a:r>
            <a:r>
              <a:rPr lang="ru-RU" sz="1700" dirty="0">
                <a:solidFill>
                  <a:srgbClr val="000000"/>
                </a:solidFill>
              </a:rPr>
              <a:t> — шина-диспетчер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ru-RU" sz="1700" dirty="0">
                <a:solidFill>
                  <a:srgbClr val="000000"/>
                </a:solidFill>
              </a:rPr>
              <a:t>Язык строится вокруг одной формы предложения:</a:t>
            </a:r>
          </a:p>
        </p:txBody>
      </p:sp>
      <p:sp>
        <p:nvSpPr>
          <p:cNvPr id="60" name="codepanel"/>
          <p:cNvSpPr/>
          <p:nvPr/>
        </p:nvSpPr>
        <p:spPr>
          <a:xfrm>
            <a:off x="838200" y="4191000"/>
            <a:ext cx="10515600" cy="2032000"/>
          </a:xfrm>
          <a:prstGeom prst="roundRect">
            <a:avLst/>
          </a:prstGeom>
          <a:solidFill>
            <a:srgbClr val="DCE0E6"/>
          </a:solidFill>
          <a:ln>
            <a:solidFill>
              <a:srgbClr val="4FA3E3"/>
            </a:solidFill>
          </a:ln>
        </p:spPr>
        <p:txBody>
          <a:bodyPr lIns="180000" tIns="100000" rIns="180000" bIns="10000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Consolas"/>
              </a:rPr>
              <a:t>&lt;ФУ&gt; . &lt;МК&gt; = &lt;Load&gt;</a:t>
            </a:r>
          </a:p>
          <a:p>
            <a:pPr algn="ctr">
              <a:spcBef>
                <a:spcPts val="400"/>
              </a:spcBef>
            </a:pPr>
            <a:r>
              <a:rPr lang="ru-RU" sz="1400" i="1" dirty="0">
                <a:solidFill>
                  <a:srgbClr val="000000"/>
                </a:solidFill>
              </a:rPr>
              <a:t>«отправь устройству ФУ микрокоманду МК с нагрузкой Load»</a:t>
            </a:r>
          </a:p>
          <a:p>
            <a:pPr>
              <a:spcBef>
                <a:spcPts val="500"/>
              </a:spcBef>
            </a:pPr>
            <a:r>
              <a:rPr lang="en-US" sz="1500" dirty="0">
                <a:solidFill>
                  <a:srgbClr val="000000"/>
                </a:solidFill>
                <a:latin typeface="Consolas"/>
              </a:rPr>
              <a:t>Cons.OutLn = "via Cons"   // вывод строки на консоль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F6A04-2A9E-9B5A-9A66-06A76F0D9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2057400"/>
            <a:ext cx="3810000" cy="1727200"/>
          </a:xfrm>
          <a:prstGeom prst="rect">
            <a:avLst/>
          </a:prstGeom>
          <a:ln w="12700">
            <a:solidFill>
              <a:srgbClr val="B8BEC7"/>
            </a:solidFill>
          </a:ln>
        </p:spPr>
      </p:pic>
    </p:spTree>
    <p:extLst>
      <p:ext uri="{BB962C8B-B14F-4D97-AF65-F5344CB8AC3E}">
        <p14:creationId xmlns:p14="http://schemas.microsoft.com/office/powerpoint/2010/main" val="174882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27CE-8B39-1B1F-06EE-7133E9E9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1A2433"/>
                </a:solidFill>
              </a:rPr>
              <a:t>Цель этапа: компилятор на самом ОА-языке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8B39-F8DB-12BC-B191-88AC19882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5461000" cy="4356100"/>
          </a:xfrm>
        </p:spPr>
        <p:txBody>
          <a:bodyPr/>
          <a:lstStyle/>
          <a:p>
            <a:r>
              <a:rPr lang="ru-RU" sz="1700" dirty="0">
                <a:solidFill>
                  <a:srgbClr val="26303C"/>
                </a:solidFill>
              </a:rPr>
              <a:t>Способность компилятора быть написанным на языке, который он сам компилирует. Зачем это нужно: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ru-RU" sz="1700" b="1" dirty="0">
                <a:solidFill>
                  <a:schemeClr val="accent1"/>
                </a:solidFill>
              </a:rPr>
              <a:t>Выразительная полнота: </a:t>
            </a:r>
            <a:r>
              <a:rPr lang="ru-RU" sz="1700" dirty="0">
                <a:solidFill>
                  <a:srgbClr val="26303C"/>
                </a:solidFill>
              </a:rPr>
              <a:t>если на языке описывается его собственный компилятор — язык достаточно выразителен.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ru-RU" sz="1700" b="1" dirty="0">
                <a:solidFill>
                  <a:schemeClr val="accent1"/>
                </a:solidFill>
              </a:rPr>
              <a:t>Упрощение развития: </a:t>
            </a:r>
            <a:r>
              <a:rPr lang="ru-RU" sz="1700" dirty="0">
                <a:solidFill>
                  <a:srgbClr val="26303C"/>
                </a:solidFill>
              </a:rPr>
              <a:t>грамматика задаётся декларативно (dataflow), а не «зашита» в </a:t>
            </a:r>
            <a:r>
              <a:rPr lang="en-US" sz="1700" dirty="0">
                <a:solidFill>
                  <a:srgbClr val="26303C"/>
                </a:solidFill>
              </a:rPr>
              <a:t>Delphi/</a:t>
            </a:r>
            <a:r>
              <a:rPr lang="ru-RU" sz="1700" dirty="0">
                <a:solidFill>
                  <a:srgbClr val="26303C"/>
                </a:solidFill>
              </a:rPr>
              <a:t>C++-исполнитель.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lang="ru-RU" sz="1700" b="1" dirty="0">
                <a:solidFill>
                  <a:schemeClr val="accent1"/>
                </a:solidFill>
              </a:rPr>
              <a:t>Проверка модели: </a:t>
            </a:r>
            <a:r>
              <a:rPr lang="ru-RU" sz="1700" dirty="0">
                <a:solidFill>
                  <a:srgbClr val="26303C"/>
                </a:solidFill>
              </a:rPr>
              <a:t>самокомпиляция — строгий интеграционный тест системы ФУ, шины и капсул.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38D899-127F-1BA6-74F9-6C0F91B0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628900"/>
            <a:ext cx="4572000" cy="2755900"/>
          </a:xfrm>
          <a:prstGeom prst="rect">
            <a:avLst/>
          </a:prstGeom>
          <a:ln w="12700">
            <a:solidFill>
              <a:srgbClr val="B8BEC7"/>
            </a:solidFill>
          </a:ln>
        </p:spPr>
      </p:pic>
    </p:spTree>
    <p:extLst>
      <p:ext uri="{BB962C8B-B14F-4D97-AF65-F5344CB8AC3E}">
        <p14:creationId xmlns:p14="http://schemas.microsoft.com/office/powerpoint/2010/main" val="357611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4E93-FCFA-1DD8-BC7D-01722388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1A2433"/>
                </a:solidFill>
              </a:rPr>
              <a:t>Архитектура: ФУ как состояния автомата</a:t>
            </a:r>
          </a:p>
        </p:txBody>
      </p:sp>
      <p:cxnSp>
        <p:nvCxnSpPr>
          <p:cNvPr id="50" name="a51"/>
          <p:cNvCxnSpPr/>
          <p:nvPr/>
        </p:nvCxnSpPr>
        <p:spPr>
          <a:xfrm>
            <a:off x="3175000" y="2565400"/>
            <a:ext cx="762000" cy="12700"/>
          </a:xfrm>
          <a:prstGeom prst="straightConnector1">
            <a:avLst/>
          </a:prstGeom>
          <a:ln w="22225">
            <a:solidFill>
              <a:srgbClr val="2E75B6"/>
            </a:solidFill>
            <a:tailEnd type="triangle"/>
          </a:ln>
        </p:spPr>
      </p:cxnSp>
      <p:cxnSp>
        <p:nvCxnSpPr>
          <p:cNvPr id="51" name="a52"/>
          <p:cNvCxnSpPr/>
          <p:nvPr/>
        </p:nvCxnSpPr>
        <p:spPr>
          <a:xfrm>
            <a:off x="6223000" y="2565400"/>
            <a:ext cx="762000" cy="12700"/>
          </a:xfrm>
          <a:prstGeom prst="straightConnector1">
            <a:avLst/>
          </a:prstGeom>
          <a:ln w="22225">
            <a:solidFill>
              <a:srgbClr val="2E75B6"/>
            </a:solidFill>
            <a:tailEnd type="triangle"/>
          </a:ln>
        </p:spPr>
      </p:cxnSp>
      <p:sp>
        <p:nvSpPr>
          <p:cNvPr id="52" name="c53"/>
          <p:cNvSpPr/>
          <p:nvPr/>
        </p:nvSpPr>
        <p:spPr>
          <a:xfrm>
            <a:off x="889000" y="2159000"/>
            <a:ext cx="2286000" cy="812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lIns="50000" tIns="40000" rIns="50000" bIns="40000" anchor="ctr"/>
          <a:lstStyle/>
          <a:p>
            <a:pPr algn="ctr"/>
            <a:r>
              <a:rPr lang="en-US" sz="1500" b="1" dirty="0">
                <a:latin typeface="Consolas"/>
              </a:rPr>
              <a:t>Root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стартовое состояние</a:t>
            </a:r>
          </a:p>
        </p:txBody>
      </p:sp>
      <p:sp>
        <p:nvSpPr>
          <p:cNvPr id="53" name="c54"/>
          <p:cNvSpPr/>
          <p:nvPr/>
        </p:nvSpPr>
        <p:spPr>
          <a:xfrm>
            <a:off x="3937000" y="2159000"/>
            <a:ext cx="2286000" cy="812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lIns="50000" tIns="40000" rIns="50000" bIns="40000" anchor="ctr"/>
          <a:lstStyle/>
          <a:p>
            <a:pPr algn="ctr"/>
            <a:r>
              <a:rPr lang="en-US" sz="1500" b="1" dirty="0">
                <a:latin typeface="Consolas"/>
              </a:rPr>
              <a:t>MnemoAnalysis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после идентификатора</a:t>
            </a:r>
          </a:p>
        </p:txBody>
      </p:sp>
      <p:sp>
        <p:nvSpPr>
          <p:cNvPr id="54" name="c55"/>
          <p:cNvSpPr/>
          <p:nvPr/>
        </p:nvSpPr>
        <p:spPr>
          <a:xfrm>
            <a:off x="6985000" y="2159000"/>
            <a:ext cx="2286000" cy="812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lIns="50000" tIns="40000" rIns="50000" bIns="40000" anchor="ctr"/>
          <a:lstStyle/>
          <a:p>
            <a:pPr algn="ctr"/>
            <a:r>
              <a:rPr lang="en-US" sz="1500" b="1" dirty="0">
                <a:latin typeface="Consolas"/>
              </a:rPr>
              <a:t>EqualWait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после знака «=»</a:t>
            </a:r>
          </a:p>
        </p:txBody>
      </p:sp>
      <p:cxnSp>
        <p:nvCxnSpPr>
          <p:cNvPr id="55" name="a56"/>
          <p:cNvCxnSpPr/>
          <p:nvPr/>
        </p:nvCxnSpPr>
        <p:spPr>
          <a:xfrm>
            <a:off x="8128000" y="2971800"/>
            <a:ext cx="12700" cy="711200"/>
          </a:xfrm>
          <a:prstGeom prst="straightConnector1">
            <a:avLst/>
          </a:prstGeom>
          <a:ln w="22225">
            <a:solidFill>
              <a:srgbClr val="2E75B6"/>
            </a:solidFill>
            <a:tailEnd type="triangle"/>
          </a:ln>
        </p:spPr>
      </p:cxnSp>
      <p:sp>
        <p:nvSpPr>
          <p:cNvPr id="56" name="c57"/>
          <p:cNvSpPr/>
          <p:nvPr/>
        </p:nvSpPr>
        <p:spPr>
          <a:xfrm>
            <a:off x="6985000" y="3683000"/>
            <a:ext cx="2286000" cy="812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lIns="50000" tIns="40000" rIns="50000" bIns="40000" anchor="ctr"/>
          <a:lstStyle/>
          <a:p>
            <a:pPr algn="ctr"/>
            <a:r>
              <a:rPr lang="en-US" sz="1500" b="1" dirty="0">
                <a:latin typeface="Consolas"/>
              </a:rPr>
              <a:t>FUAfter / ALE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…далее по графу</a:t>
            </a:r>
          </a:p>
        </p:txBody>
      </p:sp>
      <p:sp>
        <p:nvSpPr>
          <p:cNvPr id="57" name="idea"/>
          <p:cNvSpPr/>
          <p:nvPr/>
        </p:nvSpPr>
        <p:spPr>
          <a:xfrm>
            <a:off x="889000" y="4826000"/>
            <a:ext cx="10414000" cy="1397000"/>
          </a:xfrm>
          <a:prstGeom prst="roundRect">
            <a:avLst/>
          </a:prstGeom>
          <a:solidFill>
            <a:srgbClr val="E8EAED"/>
          </a:solidFill>
          <a:ln>
            <a:solidFill>
              <a:srgbClr val="E08A4B"/>
            </a:solidFill>
          </a:ln>
        </p:spPr>
        <p:txBody>
          <a:bodyPr lIns="160000" rIns="160000" anchor="ctr"/>
          <a:lstStyle/>
          <a:p>
            <a:r>
              <a:rPr lang="ru-RU" sz="1600" b="1" dirty="0">
                <a:solidFill>
                  <a:srgbClr val="E08A4B"/>
                </a:solidFill>
              </a:rPr>
              <a:t>Ключевая идея: </a:t>
            </a:r>
            <a:r>
              <a:rPr lang="ru-RU" sz="1600" dirty="0"/>
              <a:t>каждое состояние парсера — отдельное ФУ типа List, строки списка — переходы автомата. Таблица переходов и движок исполнения — один механизм (List.FindAnd + исполнение тела).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87384-C5AD-C0F2-217B-A95F55DE2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200" y="2159000"/>
            <a:ext cx="2006600" cy="2425700"/>
          </a:xfrm>
          <a:prstGeom prst="rect">
            <a:avLst/>
          </a:prstGeom>
          <a:ln w="12700">
            <a:solidFill>
              <a:srgbClr val="B8BEC7"/>
            </a:solidFill>
          </a:ln>
        </p:spPr>
      </p:pic>
    </p:spTree>
    <p:extLst>
      <p:ext uri="{BB962C8B-B14F-4D97-AF65-F5344CB8AC3E}">
        <p14:creationId xmlns:p14="http://schemas.microsoft.com/office/powerpoint/2010/main" val="311029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7C45-A2A9-6F2A-6005-9AC9AA36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1A2433"/>
                </a:solidFill>
              </a:rPr>
              <a:t>Цепочка компиляции</a:t>
            </a:r>
          </a:p>
        </p:txBody>
      </p:sp>
      <p:cxnSp>
        <p:nvCxnSpPr>
          <p:cNvPr id="50" name="a51"/>
          <p:cNvCxnSpPr/>
          <p:nvPr/>
        </p:nvCxnSpPr>
        <p:spPr>
          <a:xfrm>
            <a:off x="3683000" y="2565400"/>
            <a:ext cx="1" cy="254000"/>
          </a:xfrm>
          <a:prstGeom prst="straightConnector1">
            <a:avLst/>
          </a:prstGeom>
          <a:ln w="22225">
            <a:solidFill>
              <a:srgbClr val="2E75B6"/>
            </a:solidFill>
            <a:tailEnd type="triangle"/>
          </a:ln>
        </p:spPr>
      </p:cxnSp>
      <p:cxnSp>
        <p:nvCxnSpPr>
          <p:cNvPr id="51" name="a52"/>
          <p:cNvCxnSpPr/>
          <p:nvPr/>
        </p:nvCxnSpPr>
        <p:spPr>
          <a:xfrm>
            <a:off x="3683000" y="3479800"/>
            <a:ext cx="1" cy="254000"/>
          </a:xfrm>
          <a:prstGeom prst="straightConnector1">
            <a:avLst/>
          </a:prstGeom>
          <a:ln w="22225">
            <a:solidFill>
              <a:srgbClr val="2E75B6"/>
            </a:solidFill>
            <a:tailEnd type="triangle"/>
          </a:ln>
        </p:spPr>
      </p:cxnSp>
      <p:cxnSp>
        <p:nvCxnSpPr>
          <p:cNvPr id="52" name="a53"/>
          <p:cNvCxnSpPr/>
          <p:nvPr/>
        </p:nvCxnSpPr>
        <p:spPr>
          <a:xfrm>
            <a:off x="3683000" y="4394200"/>
            <a:ext cx="1" cy="254000"/>
          </a:xfrm>
          <a:prstGeom prst="straightConnector1">
            <a:avLst/>
          </a:prstGeom>
          <a:ln w="22225">
            <a:solidFill>
              <a:srgbClr val="2E75B6"/>
            </a:solidFill>
            <a:tailEnd type="triangle"/>
          </a:ln>
        </p:spPr>
      </p:cxnSp>
      <p:sp>
        <p:nvSpPr>
          <p:cNvPr id="53" name="s54"/>
          <p:cNvSpPr/>
          <p:nvPr/>
        </p:nvSpPr>
        <p:spPr>
          <a:xfrm>
            <a:off x="889000" y="1905000"/>
            <a:ext cx="5588000" cy="66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lIns="70000" tIns="50000" rIns="70000" bIns="5000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1. Лексер (Lex)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режет текст на токены, MnemoTable.FindAnd → атрибут</a:t>
            </a:r>
          </a:p>
        </p:txBody>
      </p:sp>
      <p:sp>
        <p:nvSpPr>
          <p:cNvPr id="54" name="s55"/>
          <p:cNvSpPr/>
          <p:nvPr/>
        </p:nvSpPr>
        <p:spPr>
          <a:xfrm>
            <a:off x="889000" y="2819400"/>
            <a:ext cx="5588000" cy="660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lIns="70000" tIns="50000" rIns="70000" bIns="5000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2. Диспетчеризация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токен → состоянию-приёмнику (SendToReceiver)</a:t>
            </a:r>
          </a:p>
        </p:txBody>
      </p:sp>
      <p:sp>
        <p:nvSpPr>
          <p:cNvPr id="55" name="s56"/>
          <p:cNvSpPr/>
          <p:nvPr/>
        </p:nvSpPr>
        <p:spPr>
          <a:xfrm>
            <a:off x="889000" y="3733800"/>
            <a:ext cx="5588000" cy="660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lIns="70000" tIns="50000" rIns="70000" bIns="5000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3. Переход состояния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FindAnd ищет строку-переход, исполняет тело</a:t>
            </a:r>
          </a:p>
        </p:txBody>
      </p:sp>
      <p:sp>
        <p:nvSpPr>
          <p:cNvPr id="56" name="s57"/>
          <p:cNvSpPr/>
          <p:nvPr/>
        </p:nvSpPr>
        <p:spPr>
          <a:xfrm>
            <a:off x="889000" y="4648200"/>
            <a:ext cx="5588000" cy="660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lIns="70000" tIns="50000" rIns="70000" bIns="50000" anchor="ctr"/>
          <a:lstStyle/>
          <a:p>
            <a:pPr algn="ctr"/>
            <a:r>
              <a:rPr lang="ru-RU" sz="1500" b="1" dirty="0">
                <a:solidFill>
                  <a:srgbClr val="FFFFFF"/>
                </a:solidFill>
              </a:rPr>
              <a:t>4. Семантика</a:t>
            </a:r>
          </a:p>
          <a:p>
            <a:pPr algn="ctr"/>
            <a:r>
              <a:rPr lang="ru-RU" sz="1200" dirty="0">
                <a:solidFill>
                  <a:srgbClr val="DCE6F1"/>
                </a:solidFill>
              </a:rPr>
              <a:t>MkCalc, OAList, CapsList, Stack строят граф</a:t>
            </a:r>
          </a:p>
        </p:txBody>
      </p:sp>
      <p:sp>
        <p:nvSpPr>
          <p:cNvPr id="57" name="out"/>
          <p:cNvSpPr/>
          <p:nvPr/>
        </p:nvSpPr>
        <p:spPr>
          <a:xfrm>
            <a:off x="6921500" y="1905000"/>
            <a:ext cx="4381500" cy="3403600"/>
          </a:xfrm>
          <a:prstGeom prst="roundRect">
            <a:avLst/>
          </a:prstGeom>
          <a:solidFill>
            <a:srgbClr val="E8EAED"/>
          </a:solidFill>
          <a:ln>
            <a:solidFill>
              <a:srgbClr val="7BC47F"/>
            </a:solidFill>
          </a:ln>
        </p:spPr>
        <p:txBody>
          <a:bodyPr lIns="140000" tIns="120000" rIns="140000" bIns="120000" anchor="t"/>
          <a:lstStyle/>
          <a:p>
            <a:r>
              <a:rPr lang="ru-RU" sz="1600" b="1" dirty="0">
                <a:solidFill>
                  <a:srgbClr val="7BC47F"/>
                </a:solidFill>
              </a:rPr>
              <a:t>Выходной образ (.ind)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ru-RU" sz="1400" dirty="0"/>
              <a:t>Объявления (NewFU, …Set=) копятся в CapsList → сериализуются в .ind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u-RU" sz="1400" dirty="0"/>
              <a:t>Runtime-вызовы при нулевой глубине исполняются «вживую»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u-RU" sz="1400" dirty="0"/>
              <a:t>Образ содержит только граф ФУ и таблицы</a:t>
            </a:r>
          </a:p>
        </p:txBody>
      </p:sp>
      <p:cxnSp>
        <p:nvCxnSpPr>
          <p:cNvPr id="58" name="ao"/>
          <p:cNvCxnSpPr/>
          <p:nvPr/>
        </p:nvCxnSpPr>
        <p:spPr>
          <a:xfrm>
            <a:off x="6477000" y="4978400"/>
            <a:ext cx="444500" cy="1"/>
          </a:xfrm>
          <a:prstGeom prst="straightConnector1">
            <a:avLst/>
          </a:prstGeom>
          <a:ln w="22225">
            <a:solidFill>
              <a:srgbClr val="538135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36893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052D-A4AD-D5CF-C874-ACCDCE42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Развитие среды программирования</a:t>
            </a:r>
          </a:p>
        </p:txBody>
      </p:sp>
      <p:sp>
        <p:nvSpPr>
          <p:cNvPr id="58" name="exp"/>
          <p:cNvSpPr/>
          <p:nvPr/>
        </p:nvSpPr>
        <p:spPr>
          <a:xfrm>
            <a:off x="838200" y="1905000"/>
            <a:ext cx="5461000" cy="4279900"/>
          </a:xfrm>
          <a:prstGeom prst="rect">
            <a:avLst/>
          </a:prstGeom>
          <a:noFill/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ru-RU" sz="1800" b="1" dirty="0">
                <a:solidFill>
                  <a:schemeClr val="accent1"/>
                </a:solidFill>
              </a:rPr>
              <a:t>Среда на базе VS Code: </a:t>
            </a:r>
            <a:r>
              <a:rPr lang="ru-RU" sz="1800" dirty="0"/>
              <a:t>редактор ОА-языка с подсветкой синтаксиса и удобной навигацией.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dirty="0"/>
              <a:t>Интеграция среды с компилятором ОА-языка — запуск компиляции прямо из редактора.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dirty="0"/>
              <a:t>Поддержка просмотра выходного индексного файла (.ind).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dirty="0"/>
              <a:t>Развитие инструментария упрощает дальнейшую работу с ОА-языком.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4C6E4A-0920-BECF-3715-AB12F82DE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00" y="1905000"/>
            <a:ext cx="3378200" cy="4279900"/>
          </a:xfrm>
          <a:prstGeom prst="rect">
            <a:avLst/>
          </a:prstGeom>
          <a:ln w="12700">
            <a:solidFill>
              <a:srgbClr val="B8BEC7"/>
            </a:solidFill>
          </a:ln>
        </p:spPr>
      </p:pic>
    </p:spTree>
    <p:extLst>
      <p:ext uri="{BB962C8B-B14F-4D97-AF65-F5344CB8AC3E}">
        <p14:creationId xmlns:p14="http://schemas.microsoft.com/office/powerpoint/2010/main" val="154260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68EE-FEAC-9CA2-4CC8-4B5DB11E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1A2433"/>
                </a:solidFill>
              </a:rPr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AE3B-82C5-DED0-726D-1C79CF47A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ru-RU" sz="1800" b="1" dirty="0">
                <a:solidFill>
                  <a:schemeClr val="accent1"/>
                </a:solidFill>
              </a:rPr>
              <a:t>Главный результат: </a:t>
            </a:r>
            <a:r>
              <a:rPr lang="ru-RU" sz="1800" dirty="0">
                <a:solidFill>
                  <a:srgbClr val="26303C"/>
                </a:solidFill>
              </a:rPr>
              <a:t>реализован компилятор ОА-языка, написанный на самом ОА-языке.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dirty="0">
                <a:solidFill>
                  <a:srgbClr val="26303C"/>
                </a:solidFill>
              </a:rPr>
              <a:t>Состояния анализатора, таблицы переходов и движок их исполнения выражены единообразно — ФУ типа List и микрокомандами поиска/исполнения.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dirty="0">
                <a:solidFill>
                  <a:srgbClr val="26303C"/>
                </a:solidFill>
              </a:rPr>
              <a:t>Описание компилятора одновременно является и данными (таблицами), и программой.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dirty="0">
                <a:solidFill>
                  <a:srgbClr val="26303C"/>
                </a:solidFill>
              </a:rPr>
              <a:t>Корректность подтверждена воспроизводимостью образа и набором тестов.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dirty="0">
                <a:solidFill>
                  <a:srgbClr val="26303C"/>
                </a:solidFill>
              </a:rPr>
              <a:t>Параллельно продолжено развитие среды программирования на базе VS Code и её интеграция с компилятором.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ru-RU" sz="1800" b="1" dirty="0">
                <a:solidFill>
                  <a:schemeClr val="accent4"/>
                </a:solidFill>
              </a:rPr>
              <a:t>Перспектива: </a:t>
            </a:r>
            <a:r>
              <a:rPr lang="ru-RU" sz="1800" dirty="0">
                <a:solidFill>
                  <a:srgbClr val="26303C"/>
                </a:solidFill>
              </a:rPr>
              <a:t>основа для развития инструментария ОА-программирования параллельных и распределённых вычислений.</a:t>
            </a:r>
          </a:p>
        </p:txBody>
      </p:sp>
    </p:spTree>
    <p:extLst>
      <p:ext uri="{BB962C8B-B14F-4D97-AF65-F5344CB8AC3E}">
        <p14:creationId xmlns:p14="http://schemas.microsoft.com/office/powerpoint/2010/main" val="2462292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A7CF-E286-51DE-88C7-89F15B8E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b="1" dirty="0">
                <a:solidFill>
                  <a:srgbClr val="1A2433"/>
                </a:solidFill>
              </a:rPr>
              <a:t>Спасибо за внимание!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A3FA0-9B00-C576-DEF1-1B6C3D70E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ru-RU" sz="2000" dirty="0">
                <a:solidFill>
                  <a:schemeClr val="accent2"/>
                </a:solidFill>
              </a:rPr>
              <a:t>Проект №1983 — Среда и компилятор объектно-атрибутного (dataflow) языка</a:t>
            </a:r>
          </a:p>
        </p:txBody>
      </p:sp>
    </p:spTree>
    <p:extLst>
      <p:ext uri="{BB962C8B-B14F-4D97-AF65-F5344CB8AC3E}">
        <p14:creationId xmlns:p14="http://schemas.microsoft.com/office/powerpoint/2010/main" val="261614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0596704898]">
  <a:themeElements>
    <a:clrScheme name="Office">
      <a:dk1>
        <a:srgbClr val="1A2433"/>
      </a:dk1>
      <a:lt1>
        <a:srgbClr val="FFFFFF"/>
      </a:lt1>
      <a:dk2>
        <a:srgbClr val="26456E"/>
      </a:dk2>
      <a:lt2>
        <a:srgbClr val="EEF2F6"/>
      </a:lt2>
      <a:accent1>
        <a:srgbClr val="1F4E79"/>
      </a:accent1>
      <a:accent2>
        <a:srgbClr val="2E75B6"/>
      </a:accent2>
      <a:accent3>
        <a:srgbClr val="7F8FA3"/>
      </a:accent3>
      <a:accent4>
        <a:srgbClr val="C55A11"/>
      </a:accent4>
      <a:accent5>
        <a:srgbClr val="538135"/>
      </a:accent5>
      <a:accent6>
        <a:srgbClr val="9E480E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 [1780597173389]">
  <a:themeElements>
    <a:clrScheme name="Office">
      <a:dk1>
        <a:srgbClr val="E8EBEF"/>
      </a:dk1>
      <a:lt1>
        <a:srgbClr val="232830"/>
      </a:lt1>
      <a:dk2>
        <a:srgbClr val="C8D0DA"/>
      </a:dk2>
      <a:lt2>
        <a:srgbClr val="2E353F"/>
      </a:lt2>
      <a:accent1>
        <a:srgbClr val="4FA3E3"/>
      </a:accent1>
      <a:accent2>
        <a:srgbClr val="6FB7F0"/>
      </a:accent2>
      <a:accent3>
        <a:srgbClr val="9AA7B5"/>
      </a:accent3>
      <a:accent4>
        <a:srgbClr val="E08A4B"/>
      </a:accent4>
      <a:accent5>
        <a:srgbClr val="7BC47F"/>
      </a:accent5>
      <a:accent6>
        <a:srgbClr val="E08A4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 [1780597282978]">
  <a:themeElements>
    <a:clrScheme name="Office">
      <a:dk1>
        <a:srgbClr val="E8EBEF"/>
      </a:dk1>
      <a:lt1>
        <a:srgbClr val="232830"/>
      </a:lt1>
      <a:dk2>
        <a:srgbClr val="C8D0DA"/>
      </a:dk2>
      <a:lt2>
        <a:srgbClr val="2E353F"/>
      </a:lt2>
      <a:accent1>
        <a:srgbClr val="4FA3E3"/>
      </a:accent1>
      <a:accent2>
        <a:srgbClr val="6FB7F0"/>
      </a:accent2>
      <a:accent3>
        <a:srgbClr val="9AA7B5"/>
      </a:accent3>
      <a:accent4>
        <a:srgbClr val="E08A4B"/>
      </a:accent4>
      <a:accent5>
        <a:srgbClr val="7BC47F"/>
      </a:accent5>
      <a:accent6>
        <a:srgbClr val="E08A4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 [1780597327300]">
  <a:themeElements>
    <a:clrScheme name="Office">
      <a:dk1>
        <a:srgbClr val="E8EBEF"/>
      </a:dk1>
      <a:lt1>
        <a:srgbClr val="232830"/>
      </a:lt1>
      <a:dk2>
        <a:srgbClr val="C8D0DA"/>
      </a:dk2>
      <a:lt2>
        <a:srgbClr val="2E353F"/>
      </a:lt2>
      <a:accent1>
        <a:srgbClr val="4FA3E3"/>
      </a:accent1>
      <a:accent2>
        <a:srgbClr val="6FB7F0"/>
      </a:accent2>
      <a:accent3>
        <a:srgbClr val="9AA7B5"/>
      </a:accent3>
      <a:accent4>
        <a:srgbClr val="E08A4B"/>
      </a:accent4>
      <a:accent5>
        <a:srgbClr val="7BC47F"/>
      </a:accent5>
      <a:accent6>
        <a:srgbClr val="E08A4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 [1780597447551]">
  <a:themeElements>
    <a:clrScheme name="Office">
      <a:dk1>
        <a:srgbClr val="E8EBEF"/>
      </a:dk1>
      <a:lt1>
        <a:srgbClr val="232830"/>
      </a:lt1>
      <a:dk2>
        <a:srgbClr val="C8D0DA"/>
      </a:dk2>
      <a:lt2>
        <a:srgbClr val="2E353F"/>
      </a:lt2>
      <a:accent1>
        <a:srgbClr val="4FA3E3"/>
      </a:accent1>
      <a:accent2>
        <a:srgbClr val="6FB7F0"/>
      </a:accent2>
      <a:accent3>
        <a:srgbClr val="9AA7B5"/>
      </a:accent3>
      <a:accent4>
        <a:srgbClr val="E08A4B"/>
      </a:accent4>
      <a:accent5>
        <a:srgbClr val="7BC47F"/>
      </a:accent5>
      <a:accent6>
        <a:srgbClr val="E08A4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 [1780597492768]">
  <a:themeElements>
    <a:clrScheme name="Office">
      <a:dk1>
        <a:srgbClr val="E8EBEF"/>
      </a:dk1>
      <a:lt1>
        <a:srgbClr val="232830"/>
      </a:lt1>
      <a:dk2>
        <a:srgbClr val="C8D0DA"/>
      </a:dk2>
      <a:lt2>
        <a:srgbClr val="2E353F"/>
      </a:lt2>
      <a:accent1>
        <a:srgbClr val="4FA3E3"/>
      </a:accent1>
      <a:accent2>
        <a:srgbClr val="6FB7F0"/>
      </a:accent2>
      <a:accent3>
        <a:srgbClr val="9AA7B5"/>
      </a:accent3>
      <a:accent4>
        <a:srgbClr val="E08A4B"/>
      </a:accent4>
      <a:accent5>
        <a:srgbClr val="7BC47F"/>
      </a:accent5>
      <a:accent6>
        <a:srgbClr val="E08A4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 Theme [1780597865927]">
  <a:themeElements>
    <a:clrScheme name="Office">
      <a:dk1>
        <a:srgbClr val="E8EBEF"/>
      </a:dk1>
      <a:lt1>
        <a:srgbClr val="232830"/>
      </a:lt1>
      <a:dk2>
        <a:srgbClr val="C8D0DA"/>
      </a:dk2>
      <a:lt2>
        <a:srgbClr val="2E353F"/>
      </a:lt2>
      <a:accent1>
        <a:srgbClr val="4FA3E3"/>
      </a:accent1>
      <a:accent2>
        <a:srgbClr val="6FB7F0"/>
      </a:accent2>
      <a:accent3>
        <a:srgbClr val="9AA7B5"/>
      </a:accent3>
      <a:accent4>
        <a:srgbClr val="E08A4B"/>
      </a:accent4>
      <a:accent5>
        <a:srgbClr val="7BC47F"/>
      </a:accent5>
      <a:accent6>
        <a:srgbClr val="E08A4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 [1780598400303]">
  <a:themeElements>
    <a:clrScheme name="Office">
      <a:dk1>
        <a:srgbClr val="E8EBEF"/>
      </a:dk1>
      <a:lt1>
        <a:srgbClr val="232830"/>
      </a:lt1>
      <a:dk2>
        <a:srgbClr val="C8D0DA"/>
      </a:dk2>
      <a:lt2>
        <a:srgbClr val="2E353F"/>
      </a:lt2>
      <a:accent1>
        <a:srgbClr val="4FA3E3"/>
      </a:accent1>
      <a:accent2>
        <a:srgbClr val="6FB7F0"/>
      </a:accent2>
      <a:accent3>
        <a:srgbClr val="9AA7B5"/>
      </a:accent3>
      <a:accent4>
        <a:srgbClr val="E08A4B"/>
      </a:accent4>
      <a:accent5>
        <a:srgbClr val="7BC47F"/>
      </a:accent5>
      <a:accent6>
        <a:srgbClr val="E08A4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B56A72-746F-464F-A1A8-43A98D8F037B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1db8078a-f7e4-442f-9347-2fd80a636c6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631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Consolas</vt:lpstr>
      <vt:lpstr>Georgia</vt:lpstr>
      <vt:lpstr>Office Theme</vt:lpstr>
      <vt:lpstr>Office Theme [1780596704898]</vt:lpstr>
      <vt:lpstr>Office Theme</vt:lpstr>
      <vt:lpstr>Office Theme [1780597173389]</vt:lpstr>
      <vt:lpstr>Office Theme [1780597282978]</vt:lpstr>
      <vt:lpstr>Office Theme [1780597327300]</vt:lpstr>
      <vt:lpstr>Office Theme [1780597447551]</vt:lpstr>
      <vt:lpstr>Office Theme [1780597492768]</vt:lpstr>
      <vt:lpstr>Office Theme [1780597865927]</vt:lpstr>
      <vt:lpstr>Office Theme [1780598400303]</vt:lpstr>
      <vt:lpstr>Среда програмимрование dataflow языка</vt:lpstr>
      <vt:lpstr>Введение и актуальность</vt:lpstr>
      <vt:lpstr>Dataflow-парадигма вычислений</vt:lpstr>
      <vt:lpstr>Объектно-атрибутный язык</vt:lpstr>
      <vt:lpstr>Цель этапа: компилятор на самом ОА-языке</vt:lpstr>
      <vt:lpstr>Архитектура: ФУ как состояния автомата</vt:lpstr>
      <vt:lpstr>Цепочка компиляции</vt:lpstr>
      <vt:lpstr>Развитие среды программирования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Babs Lufsey</dc:creator>
  <cp:lastModifiedBy>Babs Lufsey</cp:lastModifiedBy>
  <cp:revision>19</cp:revision>
  <dcterms:created xsi:type="dcterms:W3CDTF">2026-06-04T18:11:44Z</dcterms:created>
  <dcterms:modified xsi:type="dcterms:W3CDTF">2026-06-04T19:17:37Z</dcterms:modified>
</cp:coreProperties>
</file>